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DD8E6"/>
                </a:solidFill>
              </a:defRPr>
            </a:pPr>
            <a:r>
              <a:t>Banking Customer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464940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Professional Data Analytics Project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Presented by: Dhanush V. Hegde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Electronics &amp; Tel</a:t>
            </a:r>
            <a:r>
              <a:rPr lang="en-US" dirty="0"/>
              <a:t>e</a:t>
            </a:r>
            <a:r>
              <a:rPr dirty="0"/>
              <a:t>communication Engineering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July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02094" y="1435607"/>
            <a:ext cx="3621024" cy="2798071"/>
          </a:xfrm>
          <a:prstGeom prst="roundRect">
            <a:avLst/>
          </a:prstGeom>
          <a:solidFill>
            <a:srgbClr val="2850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BANK</a:t>
            </a:r>
          </a:p>
          <a:p>
            <a:r>
              <a:rPr dirty="0"/>
              <a:t>DASHBOARD</a:t>
            </a:r>
          </a:p>
          <a:p>
            <a:r>
              <a:rPr dirty="0"/>
              <a:t>(Insert Bank Image or Chart)</a:t>
            </a:r>
            <a:r>
              <a:rPr lang="en-US" dirty="0"/>
              <a:t>.2.22.2.2.2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B6013-0609-8CE2-331F-231BE7D15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094" y="1435608"/>
            <a:ext cx="3621024" cy="27980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6344" y="274320"/>
            <a:ext cx="274799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DD8E6"/>
                </a:solidFill>
              </a:defRPr>
            </a:pPr>
            <a:r>
              <a:rPr dirty="0"/>
              <a:t>Project Overview</a:t>
            </a:r>
            <a:endParaRPr lang="en-US" dirty="0"/>
          </a:p>
          <a:p>
            <a:pPr>
              <a:defRPr sz="2800" b="1">
                <a:solidFill>
                  <a:srgbClr val="ADD8E6"/>
                </a:solidFill>
              </a:defRPr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21499" y="875794"/>
            <a:ext cx="651879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lang="en-US" dirty="0"/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dirty="0"/>
              <a:t>Analyzes banking customer data using Python.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dirty="0"/>
              <a:t>Identifies customer behavior and financial patterns.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dirty="0"/>
              <a:t>Generates business insights through data analytics.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US" dirty="0"/>
              <a:t>Business Problem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dirty="0"/>
              <a:t>Banks store huge volumes of customer data.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dirty="0"/>
              <a:t>Extracting useful insights manually is difficult.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dirty="0"/>
              <a:t>Data analytics helps improve business decisions.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US" dirty="0"/>
              <a:t>Objectives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dirty="0"/>
              <a:t>Analyze customer data.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dirty="0"/>
              <a:t>Clean and preprocess the dataset.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dirty="0"/>
              <a:t>Perform Exploratory Data Analysis (EDA).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dirty="0"/>
              <a:t>Visualize data using charts.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dirty="0"/>
              <a:t>Generate business insights and recommendations.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CB69BA-B465-C672-389D-9585656F8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616" y="667512"/>
            <a:ext cx="4023296" cy="31912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0526" y="12129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DD8E6"/>
                </a:solidFill>
              </a:defRPr>
            </a:pPr>
            <a:r>
              <a:t>Sample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1129265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Key Insight</a:t>
            </a:r>
            <a:r>
              <a:rPr lang="en-US" dirty="0"/>
              <a:t>: The analysis shows that customers aged 31–60 form the largest customer segment, 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US" dirty="0"/>
              <a:t>while the loan distribution indicates that most customers have low to moderate loan amounts, 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US" dirty="0"/>
              <a:t>reflecting balanced borrowing behavior.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86EC5B-9626-BDCD-C2A2-1CAC84964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49" y="724056"/>
            <a:ext cx="3545632" cy="26592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3FD0AC-9EBD-55EE-8555-3E51CA083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7111" y="669938"/>
            <a:ext cx="3545633" cy="26592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9FF7D8-FC56-4B9B-9DFD-D3C9CB60C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7A20AB-61A5-F845-CEA4-70F1315E06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024964"/>
              </p:ext>
            </p:extLst>
          </p:nvPr>
        </p:nvGraphicFramePr>
        <p:xfrm>
          <a:off x="8668511" y="912396"/>
          <a:ext cx="3346705" cy="431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375">
                  <a:extLst>
                    <a:ext uri="{9D8B030D-6E8A-4147-A177-3AD203B41FA5}">
                      <a16:colId xmlns:a16="http://schemas.microsoft.com/office/drawing/2014/main" val="3404822292"/>
                    </a:ext>
                  </a:extLst>
                </a:gridCol>
                <a:gridCol w="1443330">
                  <a:extLst>
                    <a:ext uri="{9D8B030D-6E8A-4147-A177-3AD203B41FA5}">
                      <a16:colId xmlns:a16="http://schemas.microsoft.com/office/drawing/2014/main" val="820250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461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351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Male/Female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721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Nationality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Nationality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032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Occupation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Profession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63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Account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Available Balance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951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Loan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Loan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572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Investment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Investment 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659910"/>
                  </a:ext>
                </a:extLst>
              </a:tr>
            </a:tbl>
          </a:graphicData>
        </a:graphic>
      </p:graphicFrame>
      <p:sp>
        <p:nvSpPr>
          <p:cNvPr id="12" name="Title 11">
            <a:extLst>
              <a:ext uri="{FF2B5EF4-FFF2-40B4-BE49-F238E27FC236}">
                <a16:creationId xmlns:a16="http://schemas.microsoft.com/office/drawing/2014/main" id="{2168C829-60C7-A9F6-1CD7-2D8F237F9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09" y="274638"/>
            <a:ext cx="6574663" cy="1143000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Dataset Overview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FDC6981-FD2D-DF5A-B2B2-13CDBCA42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609" y="1600200"/>
            <a:ext cx="4809871" cy="452596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Dataset : Banking Customer Analytics</a:t>
            </a:r>
          </a:p>
          <a:p>
            <a:r>
              <a:rPr lang="en-US" sz="2400" dirty="0">
                <a:solidFill>
                  <a:schemeClr val="bg1"/>
                </a:solidFill>
              </a:rPr>
              <a:t>Total Records : 3000</a:t>
            </a:r>
          </a:p>
          <a:p>
            <a:r>
              <a:rPr lang="en-US" sz="2400" dirty="0">
                <a:solidFill>
                  <a:schemeClr val="bg1"/>
                </a:solidFill>
              </a:rPr>
              <a:t>Total Features : 15</a:t>
            </a:r>
          </a:p>
          <a:p>
            <a:r>
              <a:rPr lang="en-US" sz="2400" dirty="0">
                <a:solidFill>
                  <a:schemeClr val="bg1"/>
                </a:solidFill>
              </a:rPr>
              <a:t>Datatype : Structured CSV</a:t>
            </a:r>
          </a:p>
          <a:p>
            <a:r>
              <a:rPr lang="en-US" sz="2400" dirty="0">
                <a:solidFill>
                  <a:schemeClr val="bg1"/>
                </a:solidFill>
              </a:rPr>
              <a:t>Purpose : Customer Behavior Analysis </a:t>
            </a:r>
          </a:p>
        </p:txBody>
      </p:sp>
    </p:spTree>
    <p:extLst>
      <p:ext uri="{BB962C8B-B14F-4D97-AF65-F5344CB8AC3E}">
        <p14:creationId xmlns:p14="http://schemas.microsoft.com/office/powerpoint/2010/main" val="2090549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2644DB-82C8-8E08-2C3A-E9C386901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0035E-1991-7737-7900-7CF0CBCC8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Tools and Technologies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DF4B450-CA8F-4D7E-3317-9C85BED5A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256318"/>
              </p:ext>
            </p:extLst>
          </p:nvPr>
        </p:nvGraphicFramePr>
        <p:xfrm>
          <a:off x="457200" y="1284732"/>
          <a:ext cx="682906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4533">
                  <a:extLst>
                    <a:ext uri="{9D8B030D-6E8A-4147-A177-3AD203B41FA5}">
                      <a16:colId xmlns:a16="http://schemas.microsoft.com/office/drawing/2014/main" val="2985372024"/>
                    </a:ext>
                  </a:extLst>
                </a:gridCol>
                <a:gridCol w="3414533">
                  <a:extLst>
                    <a:ext uri="{9D8B030D-6E8A-4147-A177-3AD203B41FA5}">
                      <a16:colId xmlns:a16="http://schemas.microsoft.com/office/drawing/2014/main" val="7689797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682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Programming Language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61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Jupyter</a:t>
                      </a:r>
                      <a:r>
                        <a:rPr lang="en-US" dirty="0"/>
                        <a:t> Notebook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Development Environment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117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Manipulation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591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NumPy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Numerical Computation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42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Matplotlib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Visualization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938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Seaborn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Statistical Manipulation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81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MS 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Report Preparation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858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MS PowerPoint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942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157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A076E9-7780-8685-5E30-9D330CE5A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CB4F5-0704-44A2-8A4E-76E2CC561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274638"/>
            <a:ext cx="8321040" cy="1143000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E23EC-7C1C-18DA-EC3B-3D2867098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325880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Data Collection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 ↓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Data Cleaning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 ↓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 ↓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Exploratory Data Analysis (EDA)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↓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Data Visualization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↓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3132142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761509-62D4-88CB-C3E6-60C1CAF17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4A6EF-3C95-9059-3505-BF173B4EF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</a:rPr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39552-1946-110B-D114-16452604D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600" dirty="0">
                <a:solidFill>
                  <a:schemeClr val="bg1"/>
                </a:solidFill>
              </a:rPr>
              <a:t>Data Cleaning Process</a:t>
            </a:r>
          </a:p>
          <a:p>
            <a:r>
              <a:rPr lang="en-US" sz="2600" dirty="0">
                <a:solidFill>
                  <a:schemeClr val="bg1"/>
                </a:solidFill>
              </a:rPr>
              <a:t>Checked for missing values.</a:t>
            </a:r>
          </a:p>
          <a:p>
            <a:r>
              <a:rPr lang="en-US" sz="2600" dirty="0">
                <a:solidFill>
                  <a:schemeClr val="bg1"/>
                </a:solidFill>
              </a:rPr>
              <a:t>Removed duplicate records.</a:t>
            </a:r>
          </a:p>
          <a:p>
            <a:r>
              <a:rPr lang="en-US" sz="2600" dirty="0">
                <a:solidFill>
                  <a:schemeClr val="bg1"/>
                </a:solidFill>
              </a:rPr>
              <a:t>Corrected data types.</a:t>
            </a:r>
          </a:p>
          <a:p>
            <a:r>
              <a:rPr lang="en-US" sz="2600" dirty="0">
                <a:solidFill>
                  <a:schemeClr val="bg1"/>
                </a:solidFill>
              </a:rPr>
              <a:t>Verified data consistency.</a:t>
            </a:r>
          </a:p>
          <a:p>
            <a:r>
              <a:rPr lang="en-US" sz="2600" dirty="0">
                <a:solidFill>
                  <a:schemeClr val="bg1"/>
                </a:solidFill>
              </a:rPr>
              <a:t>Prepared the dataset for analysis.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bg1"/>
                </a:solidFill>
              </a:rPr>
              <a:t>Key Outcome</a:t>
            </a:r>
          </a:p>
          <a:p>
            <a:r>
              <a:rPr lang="en-US" sz="2600" dirty="0">
                <a:solidFill>
                  <a:schemeClr val="bg1"/>
                </a:solidFill>
              </a:rPr>
              <a:t>Improved data quality.</a:t>
            </a:r>
          </a:p>
          <a:p>
            <a:r>
              <a:rPr lang="en-US" sz="2600" dirty="0">
                <a:solidFill>
                  <a:schemeClr val="bg1"/>
                </a:solidFill>
              </a:rPr>
              <a:t>Ensured accurate analysis.</a:t>
            </a:r>
          </a:p>
          <a:p>
            <a:r>
              <a:rPr lang="en-US" sz="2600" dirty="0">
                <a:solidFill>
                  <a:schemeClr val="bg1"/>
                </a:solidFill>
              </a:rPr>
              <a:t>Increased reliability of results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3473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B921A2-D0C2-63CB-2CB9-5363F2132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25020A-1AFC-2DB8-43EC-1639291A8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160337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2200" dirty="0">
                <a:solidFill>
                  <a:schemeClr val="bg1"/>
                </a:solidFill>
              </a:rPr>
              <a:t>Exploratory Data Analysis(EDA)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A924421-AE4B-AD4F-FE98-C5DC69953450}"/>
              </a:ext>
            </a:extLst>
          </p:cNvPr>
          <p:cNvSpPr/>
          <p:nvPr/>
        </p:nvSpPr>
        <p:spPr>
          <a:xfrm>
            <a:off x="493776" y="1070164"/>
            <a:ext cx="3611880" cy="258775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  <a:p>
            <a:pPr algn="ctr"/>
            <a:r>
              <a:rPr lang="en-US" sz="2000" dirty="0"/>
              <a:t>     🎯 Purpose</a:t>
            </a:r>
          </a:p>
          <a:p>
            <a:pPr algn="ctr"/>
            <a:r>
              <a:rPr lang="en-US" sz="2000" dirty="0"/>
              <a:t>Analyze customer behavior.</a:t>
            </a:r>
          </a:p>
          <a:p>
            <a:pPr algn="ctr"/>
            <a:r>
              <a:rPr lang="en-US" sz="2000" dirty="0"/>
              <a:t>Identify meaningful patterns.</a:t>
            </a:r>
          </a:p>
          <a:p>
            <a:pPr algn="ctr"/>
            <a:r>
              <a:rPr lang="en-US" sz="2000" dirty="0"/>
              <a:t>Understand financial trends</a:t>
            </a:r>
            <a:r>
              <a:rPr lang="en-US" dirty="0"/>
              <a:t>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E47E56B-2976-BFF2-BF48-6685F4BE58EB}"/>
              </a:ext>
            </a:extLst>
          </p:cNvPr>
          <p:cNvSpPr/>
          <p:nvPr/>
        </p:nvSpPr>
        <p:spPr>
          <a:xfrm>
            <a:off x="4489704" y="1070164"/>
            <a:ext cx="3950208" cy="258775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📌Key Findings</a:t>
            </a:r>
          </a:p>
          <a:p>
            <a:pPr algn="ctr"/>
            <a:r>
              <a:rPr lang="en-US" dirty="0"/>
              <a:t>Majority of customers belong to the 31–60 age group.</a:t>
            </a:r>
          </a:p>
          <a:p>
            <a:pPr algn="ctr"/>
            <a:r>
              <a:rPr lang="en-US" dirty="0"/>
              <a:t>Loan amounts are mostly low to moderate.</a:t>
            </a:r>
          </a:p>
          <a:p>
            <a:pPr algn="ctr"/>
            <a:r>
              <a:rPr lang="en-US" dirty="0"/>
              <a:t>Customer demographics reveal diverse banking relationships.</a:t>
            </a:r>
          </a:p>
          <a:p>
            <a:pPr algn="ctr"/>
            <a:r>
              <a:rPr lang="en-US" dirty="0"/>
              <a:t>Visualizations support better business decisions.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7685CB-4F1A-7FA2-ED0B-BB3168A60EEC}"/>
              </a:ext>
            </a:extLst>
          </p:cNvPr>
          <p:cNvSpPr/>
          <p:nvPr/>
        </p:nvSpPr>
        <p:spPr>
          <a:xfrm>
            <a:off x="2750820" y="4078224"/>
            <a:ext cx="3477768" cy="19933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📊Analysis Performed</a:t>
            </a:r>
          </a:p>
          <a:p>
            <a:pPr algn="ctr"/>
            <a:r>
              <a:rPr lang="en-US" dirty="0"/>
              <a:t>Customer Age Distribution</a:t>
            </a:r>
          </a:p>
          <a:p>
            <a:pPr algn="ctr"/>
            <a:r>
              <a:rPr lang="en-US" dirty="0"/>
              <a:t>Loan Distribution</a:t>
            </a:r>
          </a:p>
          <a:p>
            <a:pPr algn="ctr"/>
            <a:r>
              <a:rPr lang="en-US" dirty="0"/>
              <a:t>Customer Demographics</a:t>
            </a:r>
          </a:p>
          <a:p>
            <a:pPr algn="ctr"/>
            <a:r>
              <a:rPr lang="en-US" dirty="0"/>
              <a:t>Banking Relationship Analysis</a:t>
            </a:r>
          </a:p>
          <a:p>
            <a:pPr algn="ctr"/>
            <a:r>
              <a:rPr lang="en-US" dirty="0"/>
              <a:t>Financial Pattern Analysis</a:t>
            </a:r>
          </a:p>
        </p:txBody>
      </p:sp>
    </p:spTree>
    <p:extLst>
      <p:ext uri="{BB962C8B-B14F-4D97-AF65-F5344CB8AC3E}">
        <p14:creationId xmlns:p14="http://schemas.microsoft.com/office/powerpoint/2010/main" val="2952055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E9B748-D9A9-0034-4A33-362A261C4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E76CA-29EA-DEBB-D841-ADDE7305F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</a:rPr>
              <a:t>Business Insights and Recommendations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01CD11-9313-D6FA-BC02-6533B10A127D}"/>
              </a:ext>
            </a:extLst>
          </p:cNvPr>
          <p:cNvSpPr/>
          <p:nvPr/>
        </p:nvSpPr>
        <p:spPr>
          <a:xfrm>
            <a:off x="457200" y="1600200"/>
            <a:ext cx="5047488" cy="3657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Key Business Insights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Majority of customers belong to the 31–60 years age group 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Most customers maintain low to moderate loan amounts 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Customer demographics show a diverse customer base 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Data visualization helped identify important banking trends.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5E9EEC-B62F-2BA1-82B6-B099D8964487}"/>
              </a:ext>
            </a:extLst>
          </p:cNvPr>
          <p:cNvSpPr/>
          <p:nvPr/>
        </p:nvSpPr>
        <p:spPr>
          <a:xfrm>
            <a:off x="6094412" y="1600200"/>
            <a:ext cx="4456049" cy="3657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✅ Recommendations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Develop personalized banking services for different age groups 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Offer targeted loan and investment products 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Improve customer engagement using data-driven strategies 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Use predictive analytics for better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601515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A4E93F-0AEA-C37D-BDAA-9FC7BD39E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F974B-107E-0FBE-CC81-5A04D410B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</a:rPr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E5434-C538-C9FE-1AD5-A940D5BF9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" y="141763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Project Summary</a:t>
            </a:r>
          </a:p>
          <a:p>
            <a:r>
              <a:rPr lang="en-US" sz="2400" dirty="0">
                <a:solidFill>
                  <a:schemeClr val="bg1"/>
                </a:solidFill>
              </a:rPr>
              <a:t>Successfully analyzed the Banking Customer Analytics dataset using Python.</a:t>
            </a:r>
          </a:p>
          <a:p>
            <a:r>
              <a:rPr lang="en-US" sz="2400" dirty="0">
                <a:solidFill>
                  <a:schemeClr val="bg1"/>
                </a:solidFill>
              </a:rPr>
              <a:t>Performed data cleaning, preprocessing, and exploratory data analysis.</a:t>
            </a:r>
          </a:p>
          <a:p>
            <a:r>
              <a:rPr lang="en-US" sz="2400" dirty="0">
                <a:solidFill>
                  <a:schemeClr val="bg1"/>
                </a:solidFill>
              </a:rPr>
              <a:t>Identified customer behavior, loan distribution, and demographic patterns.</a:t>
            </a:r>
          </a:p>
          <a:p>
            <a:r>
              <a:rPr lang="en-US" sz="2400" dirty="0">
                <a:solidFill>
                  <a:schemeClr val="bg1"/>
                </a:solidFill>
              </a:rPr>
              <a:t>Generated meaningful business insights through visualizations.</a:t>
            </a:r>
          </a:p>
          <a:p>
            <a:r>
              <a:rPr lang="en-US" sz="2400" dirty="0">
                <a:solidFill>
                  <a:schemeClr val="bg1"/>
                </a:solidFill>
              </a:rPr>
              <a:t>Demonstrated how data analytics supports better banking decisions.</a:t>
            </a:r>
          </a:p>
        </p:txBody>
      </p:sp>
    </p:spTree>
    <p:extLst>
      <p:ext uri="{BB962C8B-B14F-4D97-AF65-F5344CB8AC3E}">
        <p14:creationId xmlns:p14="http://schemas.microsoft.com/office/powerpoint/2010/main" val="3736039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386672-E778-5E8C-3B63-69434C1DA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9E39E-5483-BD2C-4F7A-8405D3FD3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2" y="304527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56714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862</TotalTime>
  <Words>500</Words>
  <Application>Microsoft Office PowerPoint</Application>
  <PresentationFormat>Custom</PresentationFormat>
  <Paragraphs>127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Dataset Overview</vt:lpstr>
      <vt:lpstr>Tools and Technologies</vt:lpstr>
      <vt:lpstr>Methodology</vt:lpstr>
      <vt:lpstr>Data Cleaning</vt:lpstr>
      <vt:lpstr>Exploratory Data Analysis(EDA)</vt:lpstr>
      <vt:lpstr>Business Insights and Recommendations</vt:lpstr>
      <vt:lpstr>Conclusions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Dhanush Hegde</dc:creator>
  <cp:keywords/>
  <dc:description>generated using python-pptx</dc:description>
  <cp:lastModifiedBy>dhanush hegde</cp:lastModifiedBy>
  <cp:revision>2</cp:revision>
  <dcterms:created xsi:type="dcterms:W3CDTF">2013-01-27T09:14:16Z</dcterms:created>
  <dcterms:modified xsi:type="dcterms:W3CDTF">2026-07-06T09:38:01Z</dcterms:modified>
  <cp:category/>
</cp:coreProperties>
</file>